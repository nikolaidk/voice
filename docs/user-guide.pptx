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your complete beginner's guide to Fluent Agents Studio — read start to finish. This guide takes you from opening the studio for the first time to producing a finished video with a professional voice-over, even if you have never made a podcast, a voice-over, or a slideshow in your life. Nothing here assumes experience. If you can paste a web address and describe what you want in a plain sentence, you have every skill this tool requires. And if you're brand new to this whole world, don't worry — I'll walk beside you the entire way, and you'll find the clearest help in the sections on writing your script, shaping your slides, and directing the voice.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idea in one breath. You give the studio something to read — a link to an article, or a PDF. The studio reads it, writes a spoken script about it, records that script with a natural computer voice, designs slides to go with it, and hands you back finished files: an audio episode, a slideshow that plays in your browser, a video, and even a PowerPoint. Your job is not to build any of that. Your job is to decide what you want and say so in ordinary language. The studio does the production work; you do the directing.</a:t>
            </a:r>
          </a:p>
          <a:p/>
          <a:p>
            <a:r>
              <a:t>Let's start by getting our bearings — the workbench at a glance.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open the studio in your browser you see two areas. On the left is the library — every production you have ever made, searchable, with small icons showing what each one contains. Nothing here disappears when you restart. On the right is the workspace, which starts on the New Generation form. Two buttons sit at the top of the library: New Generation, which is where every project begins, and Templates, where you can store visual styles to reuse — more on that later.</a:t>
            </a:r>
          </a:p>
          <a:p/>
          <a:p>
            <a:r>
              <a:t>Now let's make something. Here's your first production,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walk the form from top to bottom. Under Source, you paste the web address of an article — or use a PDF instead: switch to PDF upload and pick a file, or simply drag the PDF from your computer anywhere onto the Source box and it attaches itself. This is the raw material — the studio will read it so your listeners don't have 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decides what kind of listening experience you get, and there are three. Podcast turns the material into a conversation between two hosts who explain it to each other — the most entertaining choice for general audiences. Summary produces one narrator delivering the short version, two to four minutes — ideal when people just need the gist. Readout is the full document read aloud, faithfully, start to finish — the audiobook treatment.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Until is the most useful control for beginners, because it lets you work in safe steps. Choose Script Draft and the studio stops after writing the words, so you can read and adjust them before any audio exists. Choose Full Production and it goes all the way in one pass. Starting with a script draft costs less and teaches you the most, so that is the recommended first move.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Audience field is where the magic of tailoring happens. Type who will listen — "high-school students seeing this for the first time," or "busy executives who want the numbers" — and the script will lead with what those people care about, choose examples that land for them, and pitch explanations at the right level. The personality fields work the same way for the speakers themselves: describe host A as "an enthusiastic teacher who loves analogies" and that is exactly who shows up. The voice fields choose which synthetic voice speaks each part; leave them empty for sensible defaults, and know there are hundreds to pick from later.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Slides and Captions section. Slides picks your output formats: a web slideshow, a video file, a PowerPoint, or a combination. Captions puts the spoken words on screen — choose Burned to print them permanently into the video, or Toggle to let each viewer switch them on and off. Then press Start Generation and watch the pipeline go to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happens after you press that button? Think of it as an assembly line with four stations.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production moves through the same four stations, and the job page shows them as a strip of lights: Script, Slides, Voice, Outputs. An amber light means that station is finished; a pulsing light means it is working right now. Click any light to jump to that station's page. The order matters, and it is the same order a human production team would use: first the words, then the visuals, then the recording, then the packaging. The workbench is built around one principle — you can stop at any station, change your mind in plain English, and everything downstream updates.</a:t>
            </a:r>
          </a:p>
          <a:p/>
          <a:p>
            <a:r>
              <a:t>Let's visit station one: the script.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tab shows every line the voice will speak, numbered, with a badge showing which speaker says it. Read it like a director reads a draft. If you want changes, do not edit text — describe what you want in the Revision Instructions box, exactly as you would tell a writer: "Open with a question instead of an announcement." "Cut the part about pricing." "Make host B funnier." The studio rewrites precisely what you asked for and leaves the rest word-for-word untouched. You can revise as many times as you like, and each round takes about a minute. This is the single most important habit in the studio: iterate on the cheap words before you spend time on audio and video.</a:t>
            </a:r>
          </a:p>
          <a:p/>
          <a:p>
            <a:r>
              <a:t>On to station two: the slides.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Slides tab shows the deck as cards — each card is one slide, anchored to the exact line of narration where it will appear. Slides are not just text. The studio pulls real images out of your source article and places them where they fit, and it designs its own figures — charts, timelines, diagrams — whenever the material has data worth showing. An Asset Inventory at the bottom lists every image and figure and tells you exactly which slide uses each one, so nothing is a mystery.</a:t>
            </a:r>
          </a:p>
          <a:p/>
          <a:p>
            <a:r>
              <a:t>Slides revise just like the script: plain instructions in the box. "Make every title a question." "Merge slides three and four." "More detail on the budget slide." And you can set expectations up front with the Slide Expectations field — "ultra minimal, one phrase per slide" gives you a keynote; "more informative than the voice-over, with data the narration skips" gives you reference slides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have a company look, the Templates page stores it. Upload a PowerPoint template, a style guide document, or even a screenshot of slides you like; the studio extracts the colors and fonts and applies them to everything it renders — the slideshow, the video, and the PowerPoint. Save it once as a template set and apply it to any future production from a dropdown.</a:t>
            </a:r>
          </a:p>
          <a:p/>
          <a:p>
            <a:r>
              <a:t>Now for station three: the voice. And here's a reassuring note if you're new.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where novices usually expect the hard part — and where the studio does the most for you. The narration is synthesized line by line, and every line can be directed individually. The Voice tab takes revision instructions that reference transcript line numbers: "Line 4: slow down ten percent and pause after the question." "Pronounce Nguyen as win, everywhere it appears." The transcript and captions keep the correct spelling; only the pronunciation changes. Audio re-records automatically after every voice revision, so you hear the result within a minute or two.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best review tool in the studio lives on the slide cards: the small play button. It opens the slide full-screen and plays exactly the stretch of narration that belongs to it — not the whole episode, just that slide's segment. Step through with the arrow buttons, or switch on auto-advance and review the whole production slide by slide. This is how you catch the slide that arrives a beat too late or the sentence that needs more air.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when a slide does arrive too late? Every card has an offset field: type minus two to bring the slide in two seconds earlier, press Apply Timing, and the slideshow and video re-render with the new timing in seconds — the audio is never touched.</a:t>
            </a:r>
          </a:p>
          <a:p/>
          <a:p>
            <a:r>
              <a:t>And finally, station four: the outputs.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tab is the packaging department. The Render Production button assembles everything from the current script, slides, and voice direction. Below it, each finished artifact gets a card: the audio as an MP3, a transcript with a timestamp on every line, the web slideshow — a single file you can email to anyone, audio included, slides advancing in sync — the video for uploading anywhere, and the PowerPoint, which carries the narration as speaker notes on every slide so you can present the deck yourself.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honest word about cost. The studio's writing and design run on a paid AI model, and each job's header shows a small chip with its running spend — usually well under a dollar for a full production. Revisions are engineered to be cheap: when you iterate several times within a few minutes, the repeated material is billed at about a tenth of the normal price. The habit that saves money is the same habit that makes good productions: revise in focused bursts.</a:t>
            </a:r>
          </a:p>
          <a:p/>
          <a:p>
            <a:r>
              <a:t>Let's bring it all together — the zero-to-hero 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whole method, compressed. Start a generation with a source, a mode, and an audience, and run it only until the script. Read the script; revise it in plain English until it says what you mean. Create the slides; shape them with instructions and, if you have one, your template. Render the production. Review it slide by slide with the play buttons; fix pronunciations and pacing with voice instructions; nudge timing with offsets. Then collect your outputs — and notice that the entire process never once required you to edit audio, design a slide, or touch a video editor.</a:t>
            </a:r>
          </a:p>
          <a:p/>
          <a:p>
            <a:r>
              <a:t>That is the studio's promise to a beginner: the production skills are built in, so the only skill you bring is knowing what you want to say, to whom. Everything you just heard — this voice, these slides, the figures and the screenshots — was produced by the workbench this guide describes, in one pass, from a written document. Your first production is one pasted link away. Welcome to Fluent Agents Studio.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that's the complete guide. Go paste that link — your first production is waiting.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424160" cy="2011680"/>
          </a:xfrm>
          <a:prstGeom prst="rect">
            <a:avLst/>
          </a:prstGeom>
          <a:noFill/>
        </p:spPr>
        <p:txBody>
          <a:bodyPr wrap="square">
            <a:spAutoFit/>
          </a:bodyPr>
          <a:lstStyle/>
          <a:p>
            <a:pPr>
              <a:defRPr sz="4000" b="1">
                <a:solidFill>
                  <a:srgbClr val="F2F0EB"/>
                </a:solidFill>
                <a:latin typeface="Helvetica Neue"/>
              </a:defRPr>
            </a:pPr>
            <a:r>
              <a:t>Fluent Agents Studio</a:t>
            </a:r>
          </a:p>
        </p:txBody>
      </p:sp>
      <p:sp>
        <p:nvSpPr>
          <p:cNvPr id="4" name="TextBox 3"/>
          <p:cNvSpPr txBox="1"/>
          <p:nvPr/>
        </p:nvSpPr>
        <p:spPr>
          <a:xfrm>
            <a:off x="822960" y="2377440"/>
            <a:ext cx="10424160" cy="1645920"/>
          </a:xfrm>
          <a:prstGeom prst="rect">
            <a:avLst/>
          </a:prstGeom>
          <a:noFill/>
        </p:spPr>
        <p:txBody>
          <a:bodyPr wrap="square">
            <a:spAutoFit/>
          </a:bodyPr>
          <a:lstStyle/>
          <a:p>
            <a:pPr>
              <a:defRPr sz="2200" i="1">
                <a:solidFill>
                  <a:srgbClr val="E8A13C"/>
                </a:solidFill>
                <a:latin typeface="Helvetica Neue"/>
              </a:defRPr>
            </a:pPr>
            <a:r>
              <a:t>The complete user guide — from zero to hero</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The Idea in One Breath</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Give it an article link or a PDF</a:t>
            </a:r>
          </a:p>
          <a:p>
            <a:pPr>
              <a:spcAft>
                <a:spcPts val="1200"/>
              </a:spcAft>
              <a:defRPr sz="1800">
                <a:solidFill>
                  <a:srgbClr val="F2F0EB"/>
                </a:solidFill>
                <a:latin typeface="Helvetica Neue"/>
              </a:defRPr>
            </a:pPr>
            <a:r>
              <a:t>•  It writes, records, and designs slides</a:t>
            </a:r>
          </a:p>
          <a:p>
            <a:pPr>
              <a:spcAft>
                <a:spcPts val="1200"/>
              </a:spcAft>
              <a:defRPr sz="1800">
                <a:solidFill>
                  <a:srgbClr val="F2F0EB"/>
                </a:solidFill>
                <a:latin typeface="Helvetica Neue"/>
              </a:defRPr>
            </a:pPr>
            <a:r>
              <a:t>•  Get audio, slideshow, video, PowerPoint</a:t>
            </a:r>
          </a:p>
          <a:p>
            <a:pPr>
              <a:spcAft>
                <a:spcPts val="1200"/>
              </a:spcAft>
              <a:defRPr sz="1800">
                <a:solidFill>
                  <a:srgbClr val="F2F0EB"/>
                </a:solidFill>
                <a:latin typeface="Helvetica Neue"/>
              </a:defRPr>
            </a:pPr>
            <a:r>
              <a:t>•  You direct; the studio produces</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The Workbench at a Glance</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Left: searchable library, always saved</a:t>
            </a:r>
          </a:p>
          <a:p>
            <a:pPr>
              <a:spcAft>
                <a:spcPts val="1200"/>
              </a:spcAft>
              <a:defRPr sz="1800">
                <a:solidFill>
                  <a:srgbClr val="F2F0EB"/>
                </a:solidFill>
                <a:latin typeface="Helvetica Neue"/>
              </a:defRPr>
            </a:pPr>
            <a:r>
              <a:t>•  Right: workspace, New Generation form</a:t>
            </a:r>
          </a:p>
          <a:p>
            <a:pPr>
              <a:spcAft>
                <a:spcPts val="1200"/>
              </a:spcAft>
              <a:defRPr sz="1800">
                <a:solidFill>
                  <a:srgbClr val="F2F0EB"/>
                </a:solidFill>
                <a:latin typeface="Helvetica Neue"/>
              </a:defRPr>
            </a:pPr>
            <a:r>
              <a:t>•  Two buttons: New Generation, Templates</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Step 1 — Point at a Source</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Paste a URL, or upload a PDF</a:t>
            </a:r>
          </a:p>
          <a:p>
            <a:pPr>
              <a:spcAft>
                <a:spcPts val="1200"/>
              </a:spcAft>
              <a:defRPr sz="1800">
                <a:solidFill>
                  <a:srgbClr val="F2F0EB"/>
                </a:solidFill>
                <a:latin typeface="Helvetica Neue"/>
              </a:defRPr>
            </a:pPr>
            <a:r>
              <a:t>•  Drag a PDF onto the Source box</a:t>
            </a:r>
          </a:p>
          <a:p>
            <a:pPr>
              <a:spcAft>
                <a:spcPts val="1200"/>
              </a:spcAft>
              <a:defRPr sz="1800">
                <a:solidFill>
                  <a:srgbClr val="F2F0EB"/>
                </a:solidFill>
                <a:latin typeface="Helvetica Neue"/>
              </a:defRPr>
            </a:pPr>
            <a:r>
              <a:t>•  The raw material the studio reads</a:t>
            </a:r>
          </a:p>
        </p:txBody>
      </p:sp>
      <p:pic>
        <p:nvPicPr>
          <p:cNvPr id="5" name="Picture 4" descr="img_01.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Step 2 — Choose Your Mode</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Podcast: two hosts in conversation</a:t>
            </a:r>
          </a:p>
          <a:p>
            <a:pPr>
              <a:spcAft>
                <a:spcPts val="1200"/>
              </a:spcAft>
              <a:defRPr sz="1800">
                <a:solidFill>
                  <a:srgbClr val="F2F0EB"/>
                </a:solidFill>
                <a:latin typeface="Helvetica Neue"/>
              </a:defRPr>
            </a:pPr>
            <a:r>
              <a:t>•  Summary: one narrator, 2–4 minutes</a:t>
            </a:r>
          </a:p>
          <a:p>
            <a:pPr>
              <a:spcAft>
                <a:spcPts val="1200"/>
              </a:spcAft>
              <a:defRPr sz="1800">
                <a:solidFill>
                  <a:srgbClr val="F2F0EB"/>
                </a:solidFill>
                <a:latin typeface="Helvetica Neue"/>
              </a:defRPr>
            </a:pPr>
            <a:r>
              <a:t>•  Readout: full document, read faithfully</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Step 3 — Run Until</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Script Draft: stop after the words</a:t>
            </a:r>
          </a:p>
          <a:p>
            <a:pPr>
              <a:spcAft>
                <a:spcPts val="1200"/>
              </a:spcAft>
              <a:defRPr sz="1800">
                <a:solidFill>
                  <a:srgbClr val="F2F0EB"/>
                </a:solidFill>
                <a:latin typeface="Helvetica Neue"/>
              </a:defRPr>
            </a:pPr>
            <a:r>
              <a:t>•  Full Production: all in one pass</a:t>
            </a:r>
          </a:p>
          <a:p>
            <a:pPr>
              <a:spcAft>
                <a:spcPts val="1200"/>
              </a:spcAft>
              <a:defRPr sz="1800">
                <a:solidFill>
                  <a:srgbClr val="F2F0EB"/>
                </a:solidFill>
                <a:latin typeface="Helvetica Neue"/>
              </a:defRPr>
            </a:pPr>
            <a:r>
              <a:t>•  Start with a draft — cheaper, clearer</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Step 4 — Tailor to Your Audience</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Name who will be listening</a:t>
            </a:r>
          </a:p>
          <a:p>
            <a:pPr>
              <a:spcAft>
                <a:spcPts val="1200"/>
              </a:spcAft>
              <a:defRPr sz="1800">
                <a:solidFill>
                  <a:srgbClr val="F2F0EB"/>
                </a:solidFill>
                <a:latin typeface="Helvetica Neue"/>
              </a:defRPr>
            </a:pPr>
            <a:r>
              <a:t>•  Script leads with what they care about</a:t>
            </a:r>
          </a:p>
          <a:p>
            <a:pPr>
              <a:spcAft>
                <a:spcPts val="1200"/>
              </a:spcAft>
              <a:defRPr sz="1800">
                <a:solidFill>
                  <a:srgbClr val="F2F0EB"/>
                </a:solidFill>
                <a:latin typeface="Helvetica Neue"/>
              </a:defRPr>
            </a:pPr>
            <a:r>
              <a:t>•  Describe host personalities, pick voices</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Which Output Do I Need?</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Pick one format or a combination</a:t>
            </a:r>
          </a:p>
        </p:txBody>
      </p:sp>
      <p:pic>
        <p:nvPicPr>
          <p:cNvPr id="5" name="Picture 4" descr="figure_07.png"/>
          <p:cNvPicPr>
            <a:picLocks noChangeAspect="1"/>
          </p:cNvPicPr>
          <p:nvPr/>
        </p:nvPicPr>
        <p:blipFill>
          <a:blip r:embed="rId2"/>
          <a:stretch>
            <a:fillRect/>
          </a:stretch>
        </p:blipFill>
        <p:spPr>
          <a:xfrm>
            <a:off x="6675120" y="1898294"/>
            <a:ext cx="4937760" cy="3061411"/>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Four Stations on One Line</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Amber = finished; pulsing = working now</a:t>
            </a:r>
          </a:p>
          <a:p>
            <a:pPr>
              <a:spcAft>
                <a:spcPts val="1200"/>
              </a:spcAft>
              <a:defRPr sz="1800">
                <a:solidFill>
                  <a:srgbClr val="F2F0EB"/>
                </a:solidFill>
                <a:latin typeface="Helvetica Neue"/>
              </a:defRPr>
            </a:pPr>
            <a:r>
              <a:t>•  Click any light to jump to that station</a:t>
            </a:r>
          </a:p>
        </p:txBody>
      </p:sp>
      <p:pic>
        <p:nvPicPr>
          <p:cNvPr id="5" name="Picture 4" descr="figure_08.png"/>
          <p:cNvPicPr>
            <a:picLocks noChangeAspect="1"/>
          </p:cNvPicPr>
          <p:nvPr/>
        </p:nvPicPr>
        <p:blipFill>
          <a:blip r:embed="rId2"/>
          <a:stretch>
            <a:fillRect/>
          </a:stretch>
        </p:blipFill>
        <p:spPr>
          <a:xfrm>
            <a:off x="6675120" y="1898294"/>
            <a:ext cx="4937760" cy="3061411"/>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One Principle</a:t>
            </a:r>
          </a:p>
        </p:txBody>
      </p:sp>
      <p:sp>
        <p:nvSpPr>
          <p:cNvPr id="4" name="TextBox 3"/>
          <p:cNvSpPr txBox="1"/>
          <p:nvPr/>
        </p:nvSpPr>
        <p:spPr>
          <a:xfrm>
            <a:off x="822960" y="1737360"/>
            <a:ext cx="10424160" cy="1645920"/>
          </a:xfrm>
          <a:prstGeom prst="rect">
            <a:avLst/>
          </a:prstGeom>
          <a:noFill/>
        </p:spPr>
        <p:txBody>
          <a:bodyPr wrap="square">
            <a:spAutoFit/>
          </a:bodyPr>
          <a:lstStyle/>
          <a:p>
            <a:pPr>
              <a:defRPr sz="2000" i="1">
                <a:solidFill>
                  <a:srgbClr val="9AA0AB"/>
                </a:solidFill>
                <a:latin typeface="Helvetica Neue"/>
              </a:defRPr>
            </a:pPr>
            <a:r>
              <a:t>Stop at any station, change your mind in plain English — everything downstream updates</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Station 1 — The Script</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Every line numbered, tagged by speaker</a:t>
            </a:r>
          </a:p>
          <a:p>
            <a:pPr>
              <a:spcAft>
                <a:spcPts val="1200"/>
              </a:spcAft>
              <a:defRPr sz="1800">
                <a:solidFill>
                  <a:srgbClr val="F2F0EB"/>
                </a:solidFill>
                <a:latin typeface="Helvetica Neue"/>
              </a:defRPr>
            </a:pPr>
            <a:r>
              <a:t>•  Don't edit — describe the change</a:t>
            </a:r>
          </a:p>
          <a:p>
            <a:pPr>
              <a:spcAft>
                <a:spcPts val="1200"/>
              </a:spcAft>
              <a:defRPr sz="1800">
                <a:solidFill>
                  <a:srgbClr val="F2F0EB"/>
                </a:solidFill>
                <a:latin typeface="Helvetica Neue"/>
              </a:defRPr>
            </a:pPr>
            <a:r>
              <a:t>•  Each revision takes about a minute</a:t>
            </a:r>
          </a:p>
        </p:txBody>
      </p:sp>
      <p:pic>
        <p:nvPicPr>
          <p:cNvPr id="5" name="Picture 4" descr="img_02.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Station 2 — The Slides</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One card per slide, anchored to a line</a:t>
            </a:r>
          </a:p>
          <a:p>
            <a:pPr>
              <a:spcAft>
                <a:spcPts val="1200"/>
              </a:spcAft>
              <a:defRPr sz="1800">
                <a:solidFill>
                  <a:srgbClr val="F2F0EB"/>
                </a:solidFill>
                <a:latin typeface="Helvetica Neue"/>
              </a:defRPr>
            </a:pPr>
            <a:r>
              <a:t>•  Real images plus auto-designed figures</a:t>
            </a:r>
          </a:p>
          <a:p>
            <a:pPr>
              <a:spcAft>
                <a:spcPts val="1200"/>
              </a:spcAft>
              <a:defRPr sz="1800">
                <a:solidFill>
                  <a:srgbClr val="F2F0EB"/>
                </a:solidFill>
                <a:latin typeface="Helvetica Neue"/>
              </a:defRPr>
            </a:pPr>
            <a:r>
              <a:t>•  Asset Inventory maps every asset</a:t>
            </a:r>
          </a:p>
        </p:txBody>
      </p:sp>
      <p:pic>
        <p:nvPicPr>
          <p:cNvPr id="5" name="Picture 4" descr="img_03.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Bring Your Brand</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Upload PPTX, style guide, or a screenshot</a:t>
            </a:r>
          </a:p>
          <a:p>
            <a:pPr>
              <a:spcAft>
                <a:spcPts val="1200"/>
              </a:spcAft>
              <a:defRPr sz="1800">
                <a:solidFill>
                  <a:srgbClr val="F2F0EB"/>
                </a:solidFill>
                <a:latin typeface="Helvetica Neue"/>
              </a:defRPr>
            </a:pPr>
            <a:r>
              <a:t>•  Colors and fonts applied everywhere</a:t>
            </a:r>
          </a:p>
          <a:p>
            <a:pPr>
              <a:spcAft>
                <a:spcPts val="1200"/>
              </a:spcAft>
              <a:defRPr sz="1800">
                <a:solidFill>
                  <a:srgbClr val="F2F0EB"/>
                </a:solidFill>
                <a:latin typeface="Helvetica Neue"/>
              </a:defRPr>
            </a:pPr>
            <a:r>
              <a:t>•  Save once, reuse from a dropdown</a:t>
            </a:r>
          </a:p>
        </p:txBody>
      </p:sp>
      <p:pic>
        <p:nvPicPr>
          <p:cNvPr id="5" name="Picture 4" descr="img_04.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Station 3 — The Voice</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Every line directed individually</a:t>
            </a:r>
          </a:p>
          <a:p>
            <a:pPr>
              <a:spcAft>
                <a:spcPts val="1200"/>
              </a:spcAft>
              <a:defRPr sz="1800">
                <a:solidFill>
                  <a:srgbClr val="F2F0EB"/>
                </a:solidFill>
                <a:latin typeface="Helvetica Neue"/>
              </a:defRPr>
            </a:pPr>
            <a:r>
              <a:t>•  "Line 4: slow down, pause after the question"</a:t>
            </a:r>
          </a:p>
          <a:p>
            <a:pPr>
              <a:spcAft>
                <a:spcPts val="1200"/>
              </a:spcAft>
              <a:defRPr sz="1800">
                <a:solidFill>
                  <a:srgbClr val="F2F0EB"/>
                </a:solidFill>
                <a:latin typeface="Helvetica Neue"/>
              </a:defRPr>
            </a:pPr>
            <a:r>
              <a:t>•  Fix pronunciations; spelling stays correct</a:t>
            </a:r>
          </a:p>
          <a:p>
            <a:pPr>
              <a:spcAft>
                <a:spcPts val="1200"/>
              </a:spcAft>
              <a:defRPr sz="1800">
                <a:solidFill>
                  <a:srgbClr val="F2F0EB"/>
                </a:solidFill>
                <a:latin typeface="Helvetica Neue"/>
              </a:defRPr>
            </a:pPr>
            <a:r>
              <a:t>•  Audio re-records automatically</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Review Slide by Slide</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Play button on each slide card</a:t>
            </a:r>
          </a:p>
          <a:p>
            <a:pPr>
              <a:spcAft>
                <a:spcPts val="1200"/>
              </a:spcAft>
              <a:defRPr sz="1800">
                <a:solidFill>
                  <a:srgbClr val="F2F0EB"/>
                </a:solidFill>
                <a:latin typeface="Helvetica Neue"/>
              </a:defRPr>
            </a:pPr>
            <a:r>
              <a:t>•  Plays just that slide's narration</a:t>
            </a:r>
          </a:p>
          <a:p>
            <a:pPr>
              <a:spcAft>
                <a:spcPts val="1200"/>
              </a:spcAft>
              <a:defRPr sz="1800">
                <a:solidFill>
                  <a:srgbClr val="F2F0EB"/>
                </a:solidFill>
                <a:latin typeface="Helvetica Neue"/>
              </a:defRPr>
            </a:pPr>
            <a:r>
              <a:t>•  Step through or switch on auto-advance</a:t>
            </a:r>
          </a:p>
        </p:txBody>
      </p:sp>
      <p:pic>
        <p:nvPicPr>
          <p:cNvPr id="5" name="Picture 4" descr="img_05.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Review, Revise, Re-render</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Offset field nudges timing in seconds</a:t>
            </a:r>
          </a:p>
          <a:p>
            <a:pPr>
              <a:spcAft>
                <a:spcPts val="1200"/>
              </a:spcAft>
              <a:defRPr sz="1800">
                <a:solidFill>
                  <a:srgbClr val="F2F0EB"/>
                </a:solidFill>
                <a:latin typeface="Helvetica Neue"/>
              </a:defRPr>
            </a:pPr>
            <a:r>
              <a:t>•  The audio is never touched</a:t>
            </a:r>
          </a:p>
        </p:txBody>
      </p:sp>
      <p:pic>
        <p:nvPicPr>
          <p:cNvPr id="5" name="Picture 4" descr="figure_15.png"/>
          <p:cNvPicPr>
            <a:picLocks noChangeAspect="1"/>
          </p:cNvPicPr>
          <p:nvPr/>
        </p:nvPicPr>
        <p:blipFill>
          <a:blip r:embed="rId2"/>
          <a:stretch>
            <a:fillRect/>
          </a:stretch>
        </p:blipFill>
        <p:spPr>
          <a:xfrm>
            <a:off x="6675120" y="1898294"/>
            <a:ext cx="4937760" cy="3061411"/>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Station 4 — The Outputs</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Render assembles from your latest work</a:t>
            </a:r>
          </a:p>
          <a:p>
            <a:pPr>
              <a:spcAft>
                <a:spcPts val="1200"/>
              </a:spcAft>
              <a:defRPr sz="1800">
                <a:solidFill>
                  <a:srgbClr val="F2F0EB"/>
                </a:solidFill>
                <a:latin typeface="Helvetica Neue"/>
              </a:defRPr>
            </a:pPr>
            <a:r>
              <a:t>•  MP3, transcript, slideshow, video, PPTX</a:t>
            </a:r>
          </a:p>
          <a:p>
            <a:pPr>
              <a:spcAft>
                <a:spcPts val="1200"/>
              </a:spcAft>
              <a:defRPr sz="1800">
                <a:solidFill>
                  <a:srgbClr val="F2F0EB"/>
                </a:solidFill>
                <a:latin typeface="Helvetica Neue"/>
              </a:defRPr>
            </a:pPr>
            <a:r>
              <a:t>•  Slideshow emails with audio built in</a:t>
            </a:r>
          </a:p>
        </p:txBody>
      </p:sp>
      <p:pic>
        <p:nvPicPr>
          <p:cNvPr id="5" name="Picture 4" descr="img_06.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A Word About Cost</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Running spend shown in a header chip</a:t>
            </a:r>
          </a:p>
          <a:p>
            <a:pPr>
              <a:spcAft>
                <a:spcPts val="1200"/>
              </a:spcAft>
              <a:defRPr sz="1800">
                <a:solidFill>
                  <a:srgbClr val="F2F0EB"/>
                </a:solidFill>
                <a:latin typeface="Helvetica Neue"/>
              </a:defRPr>
            </a:pPr>
            <a:r>
              <a:t>•  Usually well under a dollar per production</a:t>
            </a:r>
          </a:p>
          <a:p>
            <a:pPr>
              <a:spcAft>
                <a:spcPts val="1200"/>
              </a:spcAft>
              <a:defRPr sz="1800">
                <a:solidFill>
                  <a:srgbClr val="F2F0EB"/>
                </a:solidFill>
                <a:latin typeface="Helvetica Neue"/>
              </a:defRPr>
            </a:pPr>
            <a:r>
              <a:t>•  Repeat revisions billed ~one-tenth price</a:t>
            </a:r>
          </a:p>
          <a:p>
            <a:pPr>
              <a:spcAft>
                <a:spcPts val="1200"/>
              </a:spcAft>
              <a:defRPr sz="1800">
                <a:solidFill>
                  <a:srgbClr val="F2F0EB"/>
                </a:solidFill>
                <a:latin typeface="Helvetica Neue"/>
              </a:defRPr>
            </a:pPr>
            <a:r>
              <a:t>•  Revise in focused bursts</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The Zero-to-Hero Path</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1. Source + mode + audience → script</a:t>
            </a:r>
          </a:p>
          <a:p>
            <a:pPr>
              <a:spcAft>
                <a:spcPts val="1200"/>
              </a:spcAft>
              <a:defRPr sz="1800">
                <a:solidFill>
                  <a:srgbClr val="F2F0EB"/>
                </a:solidFill>
                <a:latin typeface="Helvetica Neue"/>
              </a:defRPr>
            </a:pPr>
            <a:r>
              <a:t>•  2. Revise the script in plain English</a:t>
            </a:r>
          </a:p>
          <a:p>
            <a:pPr>
              <a:spcAft>
                <a:spcPts val="1200"/>
              </a:spcAft>
              <a:defRPr sz="1800">
                <a:solidFill>
                  <a:srgbClr val="F2F0EB"/>
                </a:solidFill>
                <a:latin typeface="Helvetica Neue"/>
              </a:defRPr>
            </a:pPr>
            <a:r>
              <a:t>•  3. Create and shape the slides</a:t>
            </a:r>
          </a:p>
          <a:p>
            <a:pPr>
              <a:spcAft>
                <a:spcPts val="1200"/>
              </a:spcAft>
              <a:defRPr sz="1800">
                <a:solidFill>
                  <a:srgbClr val="F2F0EB"/>
                </a:solidFill>
                <a:latin typeface="Helvetica Neue"/>
              </a:defRPr>
            </a:pPr>
            <a:r>
              <a:t>•  4. Render, then review with play buttons</a:t>
            </a:r>
          </a:p>
          <a:p>
            <a:pPr>
              <a:spcAft>
                <a:spcPts val="1200"/>
              </a:spcAft>
              <a:defRPr sz="1800">
                <a:solidFill>
                  <a:srgbClr val="F2F0EB"/>
                </a:solidFill>
                <a:latin typeface="Helvetica Neue"/>
              </a:defRPr>
            </a:pPr>
            <a:r>
              <a:t>•  5. Fix voice, nudge timing, collect outputs</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Welcome to Fluent Agents Studio</a:t>
            </a:r>
          </a:p>
        </p:txBody>
      </p:sp>
      <p:sp>
        <p:nvSpPr>
          <p:cNvPr id="4" name="TextBox 3"/>
          <p:cNvSpPr txBox="1"/>
          <p:nvPr/>
        </p:nvSpPr>
        <p:spPr>
          <a:xfrm>
            <a:off x="822960" y="1737360"/>
            <a:ext cx="10424160" cy="1645920"/>
          </a:xfrm>
          <a:prstGeom prst="rect">
            <a:avLst/>
          </a:prstGeom>
          <a:noFill/>
        </p:spPr>
        <p:txBody>
          <a:bodyPr wrap="square">
            <a:spAutoFit/>
          </a:bodyPr>
          <a:lstStyle/>
          <a:p>
            <a:pPr>
              <a:defRPr sz="2000" i="1">
                <a:solidFill>
                  <a:srgbClr val="9AA0AB"/>
                </a:solidFill>
                <a:latin typeface="Helvetica Neue"/>
              </a:defRPr>
            </a:pPr>
            <a:r>
              <a:t>Your first production is one pasted link away</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